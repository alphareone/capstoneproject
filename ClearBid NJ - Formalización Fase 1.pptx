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701203-B4F9-45E4-B6C4-AD968641EDB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F8724B58-83D7-4251-90DC-7820996CDE16}">
      <dgm:prSet phldrT="[Texto]" phldr="0"/>
      <dgm:spPr/>
      <dgm:t>
        <a:bodyPr/>
        <a:lstStyle/>
        <a:p>
          <a:pPr algn="l">
            <a:lnSpc>
              <a:spcPct val="300000"/>
            </a:lnSpc>
          </a:pPr>
          <a:r>
            <a:rPr lang="es-CL" dirty="0">
              <a:solidFill>
                <a:schemeClr val="bg1"/>
              </a:solidFill>
            </a:rPr>
            <a:t>https://github.com/Alphareone/CapstoneProject.git</a:t>
          </a:r>
        </a:p>
      </dgm:t>
    </dgm:pt>
    <dgm:pt modelId="{FAA2B9B3-BCE3-4F3E-971F-204BD8514688}" type="parTrans" cxnId="{7280065B-19BB-43AE-BE75-9627D5679127}">
      <dgm:prSet/>
      <dgm:spPr/>
      <dgm:t>
        <a:bodyPr/>
        <a:lstStyle/>
        <a:p>
          <a:pPr algn="l">
            <a:lnSpc>
              <a:spcPct val="300000"/>
            </a:lnSpc>
          </a:pPr>
          <a:endParaRPr lang="es-CL"/>
        </a:p>
      </dgm:t>
    </dgm:pt>
    <dgm:pt modelId="{AB121BCB-42DE-4A22-97AE-D73406CA805A}" type="sibTrans" cxnId="{7280065B-19BB-43AE-BE75-9627D5679127}">
      <dgm:prSet/>
      <dgm:spPr/>
      <dgm:t>
        <a:bodyPr/>
        <a:lstStyle/>
        <a:p>
          <a:pPr algn="l">
            <a:lnSpc>
              <a:spcPct val="300000"/>
            </a:lnSpc>
          </a:pPr>
          <a:endParaRPr lang="es-CL"/>
        </a:p>
      </dgm:t>
    </dgm:pt>
    <dgm:pt modelId="{D59A17DC-2257-46A4-B87F-4BB99B1DC13B}">
      <dgm:prSet phldrT="[Texto]"/>
      <dgm:spPr/>
      <dgm:t>
        <a:bodyPr/>
        <a:lstStyle/>
        <a:p>
          <a:pPr algn="l">
            <a:lnSpc>
              <a:spcPct val="300000"/>
            </a:lnSpc>
          </a:pPr>
          <a:r>
            <a:rPr lang="es-CL" dirty="0">
              <a:solidFill>
                <a:schemeClr val="bg1"/>
              </a:solidFill>
            </a:rPr>
            <a:t>https://drive.google.com/drive/folders/1lfCZGKXPYub3t52xiG7z3Hq5lxKWfHx-?usp=drive_link</a:t>
          </a:r>
        </a:p>
      </dgm:t>
    </dgm:pt>
    <dgm:pt modelId="{53D76AC2-1CEF-48A0-BAC6-043B3F512BC6}" type="parTrans" cxnId="{92BD5086-70D7-4D54-9DE3-EB2A3145F98F}">
      <dgm:prSet/>
      <dgm:spPr/>
      <dgm:t>
        <a:bodyPr/>
        <a:lstStyle/>
        <a:p>
          <a:pPr algn="l">
            <a:lnSpc>
              <a:spcPct val="300000"/>
            </a:lnSpc>
          </a:pPr>
          <a:endParaRPr lang="es-CL"/>
        </a:p>
      </dgm:t>
    </dgm:pt>
    <dgm:pt modelId="{C50B147C-59FA-4766-955D-D86A2996AD1A}" type="sibTrans" cxnId="{92BD5086-70D7-4D54-9DE3-EB2A3145F98F}">
      <dgm:prSet/>
      <dgm:spPr/>
      <dgm:t>
        <a:bodyPr/>
        <a:lstStyle/>
        <a:p>
          <a:pPr algn="l">
            <a:lnSpc>
              <a:spcPct val="300000"/>
            </a:lnSpc>
          </a:pPr>
          <a:endParaRPr lang="es-CL"/>
        </a:p>
      </dgm:t>
    </dgm:pt>
    <dgm:pt modelId="{6716AF34-208B-4D68-B32A-A6A97A690249}">
      <dgm:prSet phldrT="[Texto]"/>
      <dgm:spPr/>
      <dgm:t>
        <a:bodyPr/>
        <a:lstStyle/>
        <a:p>
          <a:pPr algn="l">
            <a:lnSpc>
              <a:spcPct val="300000"/>
            </a:lnSpc>
          </a:pPr>
          <a:r>
            <a:rPr lang="es-CL" dirty="0">
              <a:solidFill>
                <a:schemeClr val="bg1"/>
              </a:solidFill>
            </a:rPr>
            <a:t>https://drive.google.com/drive/folders/1Y6t3c6bWMwtTJ-1Wc7QTfp23osSk9mr7?usp=drive_link</a:t>
          </a:r>
        </a:p>
      </dgm:t>
    </dgm:pt>
    <dgm:pt modelId="{DE509FF2-55F2-4132-BAC0-85B3AE9B5D88}" type="parTrans" cxnId="{5132AE02-B9E3-4945-82D8-5AAF78518B9F}">
      <dgm:prSet/>
      <dgm:spPr/>
      <dgm:t>
        <a:bodyPr/>
        <a:lstStyle/>
        <a:p>
          <a:pPr algn="l">
            <a:lnSpc>
              <a:spcPct val="300000"/>
            </a:lnSpc>
          </a:pPr>
          <a:endParaRPr lang="es-CL"/>
        </a:p>
      </dgm:t>
    </dgm:pt>
    <dgm:pt modelId="{062BF6CC-182F-4BF3-9FE7-039B6C4830F5}" type="sibTrans" cxnId="{5132AE02-B9E3-4945-82D8-5AAF78518B9F}">
      <dgm:prSet/>
      <dgm:spPr/>
      <dgm:t>
        <a:bodyPr/>
        <a:lstStyle/>
        <a:p>
          <a:pPr algn="l">
            <a:lnSpc>
              <a:spcPct val="300000"/>
            </a:lnSpc>
          </a:pPr>
          <a:endParaRPr lang="es-CL"/>
        </a:p>
      </dgm:t>
    </dgm:pt>
    <dgm:pt modelId="{60E38A7A-22F7-4F73-9CAD-2C6221E15865}" type="pres">
      <dgm:prSet presAssocID="{65701203-B4F9-45E4-B6C4-AD968641EDB9}" presName="vert0" presStyleCnt="0">
        <dgm:presLayoutVars>
          <dgm:dir/>
          <dgm:animOne val="branch"/>
          <dgm:animLvl val="lvl"/>
        </dgm:presLayoutVars>
      </dgm:prSet>
      <dgm:spPr/>
    </dgm:pt>
    <dgm:pt modelId="{E675D500-DA48-4294-B253-155BDE0AEAE7}" type="pres">
      <dgm:prSet presAssocID="{F8724B58-83D7-4251-90DC-7820996CDE16}" presName="thickLine" presStyleLbl="alignNode1" presStyleIdx="0" presStyleCnt="3"/>
      <dgm:spPr/>
    </dgm:pt>
    <dgm:pt modelId="{48C646E5-FEAE-45F4-A574-751AE24E48AB}" type="pres">
      <dgm:prSet presAssocID="{F8724B58-83D7-4251-90DC-7820996CDE16}" presName="horz1" presStyleCnt="0"/>
      <dgm:spPr/>
    </dgm:pt>
    <dgm:pt modelId="{B5EC3E68-7963-492A-99C7-313316286318}" type="pres">
      <dgm:prSet presAssocID="{F8724B58-83D7-4251-90DC-7820996CDE16}" presName="tx1" presStyleLbl="revTx" presStyleIdx="0" presStyleCnt="3"/>
      <dgm:spPr/>
    </dgm:pt>
    <dgm:pt modelId="{0F72B174-590A-4788-A50A-47BA89C46B16}" type="pres">
      <dgm:prSet presAssocID="{F8724B58-83D7-4251-90DC-7820996CDE16}" presName="vert1" presStyleCnt="0"/>
      <dgm:spPr/>
    </dgm:pt>
    <dgm:pt modelId="{F55C0088-C0C2-4E08-AB70-A5F9D017AE16}" type="pres">
      <dgm:prSet presAssocID="{D59A17DC-2257-46A4-B87F-4BB99B1DC13B}" presName="thickLine" presStyleLbl="alignNode1" presStyleIdx="1" presStyleCnt="3"/>
      <dgm:spPr/>
    </dgm:pt>
    <dgm:pt modelId="{2C33302A-0658-4134-905C-5F1D432D6186}" type="pres">
      <dgm:prSet presAssocID="{D59A17DC-2257-46A4-B87F-4BB99B1DC13B}" presName="horz1" presStyleCnt="0"/>
      <dgm:spPr/>
    </dgm:pt>
    <dgm:pt modelId="{7DA46B98-92D0-48F5-9F9B-D80B6794A4BC}" type="pres">
      <dgm:prSet presAssocID="{D59A17DC-2257-46A4-B87F-4BB99B1DC13B}" presName="tx1" presStyleLbl="revTx" presStyleIdx="1" presStyleCnt="3"/>
      <dgm:spPr/>
    </dgm:pt>
    <dgm:pt modelId="{1AC107FE-C839-418F-9E00-92DA689C3C19}" type="pres">
      <dgm:prSet presAssocID="{D59A17DC-2257-46A4-B87F-4BB99B1DC13B}" presName="vert1" presStyleCnt="0"/>
      <dgm:spPr/>
    </dgm:pt>
    <dgm:pt modelId="{E14EB671-C230-42EF-A8B7-1EE94B186A45}" type="pres">
      <dgm:prSet presAssocID="{6716AF34-208B-4D68-B32A-A6A97A690249}" presName="thickLine" presStyleLbl="alignNode1" presStyleIdx="2" presStyleCnt="3"/>
      <dgm:spPr/>
    </dgm:pt>
    <dgm:pt modelId="{1AD6234E-96B5-4465-A460-7788CFF9033E}" type="pres">
      <dgm:prSet presAssocID="{6716AF34-208B-4D68-B32A-A6A97A690249}" presName="horz1" presStyleCnt="0"/>
      <dgm:spPr/>
    </dgm:pt>
    <dgm:pt modelId="{420D254E-23E3-4802-9197-A9957444EC98}" type="pres">
      <dgm:prSet presAssocID="{6716AF34-208B-4D68-B32A-A6A97A690249}" presName="tx1" presStyleLbl="revTx" presStyleIdx="2" presStyleCnt="3"/>
      <dgm:spPr/>
    </dgm:pt>
    <dgm:pt modelId="{2B5FDD35-B9DF-47D9-BF55-D13349F305FC}" type="pres">
      <dgm:prSet presAssocID="{6716AF34-208B-4D68-B32A-A6A97A690249}" presName="vert1" presStyleCnt="0"/>
      <dgm:spPr/>
    </dgm:pt>
  </dgm:ptLst>
  <dgm:cxnLst>
    <dgm:cxn modelId="{5132AE02-B9E3-4945-82D8-5AAF78518B9F}" srcId="{65701203-B4F9-45E4-B6C4-AD968641EDB9}" destId="{6716AF34-208B-4D68-B32A-A6A97A690249}" srcOrd="2" destOrd="0" parTransId="{DE509FF2-55F2-4132-BAC0-85B3AE9B5D88}" sibTransId="{062BF6CC-182F-4BF3-9FE7-039B6C4830F5}"/>
    <dgm:cxn modelId="{38F22C2B-0DA0-4E2F-89A0-0E623330EC88}" type="presOf" srcId="{D59A17DC-2257-46A4-B87F-4BB99B1DC13B}" destId="{7DA46B98-92D0-48F5-9F9B-D80B6794A4BC}" srcOrd="0" destOrd="0" presId="urn:microsoft.com/office/officeart/2008/layout/LinedList"/>
    <dgm:cxn modelId="{7280065B-19BB-43AE-BE75-9627D5679127}" srcId="{65701203-B4F9-45E4-B6C4-AD968641EDB9}" destId="{F8724B58-83D7-4251-90DC-7820996CDE16}" srcOrd="0" destOrd="0" parTransId="{FAA2B9B3-BCE3-4F3E-971F-204BD8514688}" sibTransId="{AB121BCB-42DE-4A22-97AE-D73406CA805A}"/>
    <dgm:cxn modelId="{0F31F660-0047-4C6F-9903-375BADC26FA3}" type="presOf" srcId="{65701203-B4F9-45E4-B6C4-AD968641EDB9}" destId="{60E38A7A-22F7-4F73-9CAD-2C6221E15865}" srcOrd="0" destOrd="0" presId="urn:microsoft.com/office/officeart/2008/layout/LinedList"/>
    <dgm:cxn modelId="{C286BE78-4C37-4CAC-A810-1736EB3B3A63}" type="presOf" srcId="{6716AF34-208B-4D68-B32A-A6A97A690249}" destId="{420D254E-23E3-4802-9197-A9957444EC98}" srcOrd="0" destOrd="0" presId="urn:microsoft.com/office/officeart/2008/layout/LinedList"/>
    <dgm:cxn modelId="{92BD5086-70D7-4D54-9DE3-EB2A3145F98F}" srcId="{65701203-B4F9-45E4-B6C4-AD968641EDB9}" destId="{D59A17DC-2257-46A4-B87F-4BB99B1DC13B}" srcOrd="1" destOrd="0" parTransId="{53D76AC2-1CEF-48A0-BAC6-043B3F512BC6}" sibTransId="{C50B147C-59FA-4766-955D-D86A2996AD1A}"/>
    <dgm:cxn modelId="{C6A609C4-7891-4718-9ADA-368AC1D2BEA8}" type="presOf" srcId="{F8724B58-83D7-4251-90DC-7820996CDE16}" destId="{B5EC3E68-7963-492A-99C7-313316286318}" srcOrd="0" destOrd="0" presId="urn:microsoft.com/office/officeart/2008/layout/LinedList"/>
    <dgm:cxn modelId="{2E7B27CF-0844-4E60-816F-5864EFBBE10D}" type="presParOf" srcId="{60E38A7A-22F7-4F73-9CAD-2C6221E15865}" destId="{E675D500-DA48-4294-B253-155BDE0AEAE7}" srcOrd="0" destOrd="0" presId="urn:microsoft.com/office/officeart/2008/layout/LinedList"/>
    <dgm:cxn modelId="{007B5713-42A2-492A-B81F-E9A08E24637E}" type="presParOf" srcId="{60E38A7A-22F7-4F73-9CAD-2C6221E15865}" destId="{48C646E5-FEAE-45F4-A574-751AE24E48AB}" srcOrd="1" destOrd="0" presId="urn:microsoft.com/office/officeart/2008/layout/LinedList"/>
    <dgm:cxn modelId="{81311DCD-8A89-46F8-B2D1-7C37B67C36A6}" type="presParOf" srcId="{48C646E5-FEAE-45F4-A574-751AE24E48AB}" destId="{B5EC3E68-7963-492A-99C7-313316286318}" srcOrd="0" destOrd="0" presId="urn:microsoft.com/office/officeart/2008/layout/LinedList"/>
    <dgm:cxn modelId="{6FCF1DEF-F188-4CCB-B569-7E933F393FBD}" type="presParOf" srcId="{48C646E5-FEAE-45F4-A574-751AE24E48AB}" destId="{0F72B174-590A-4788-A50A-47BA89C46B16}" srcOrd="1" destOrd="0" presId="urn:microsoft.com/office/officeart/2008/layout/LinedList"/>
    <dgm:cxn modelId="{4F163644-68E8-4B61-BDC8-2C7FE0BC6A60}" type="presParOf" srcId="{60E38A7A-22F7-4F73-9CAD-2C6221E15865}" destId="{F55C0088-C0C2-4E08-AB70-A5F9D017AE16}" srcOrd="2" destOrd="0" presId="urn:microsoft.com/office/officeart/2008/layout/LinedList"/>
    <dgm:cxn modelId="{F6986F24-E8C8-4E41-A85B-D8B7F7A79C41}" type="presParOf" srcId="{60E38A7A-22F7-4F73-9CAD-2C6221E15865}" destId="{2C33302A-0658-4134-905C-5F1D432D6186}" srcOrd="3" destOrd="0" presId="urn:microsoft.com/office/officeart/2008/layout/LinedList"/>
    <dgm:cxn modelId="{D7DEDE1C-CE72-4CBA-BA34-A2FB27BEB418}" type="presParOf" srcId="{2C33302A-0658-4134-905C-5F1D432D6186}" destId="{7DA46B98-92D0-48F5-9F9B-D80B6794A4BC}" srcOrd="0" destOrd="0" presId="urn:microsoft.com/office/officeart/2008/layout/LinedList"/>
    <dgm:cxn modelId="{89DF6A9E-5E0B-46C3-A2F2-812EA6912C2A}" type="presParOf" srcId="{2C33302A-0658-4134-905C-5F1D432D6186}" destId="{1AC107FE-C839-418F-9E00-92DA689C3C19}" srcOrd="1" destOrd="0" presId="urn:microsoft.com/office/officeart/2008/layout/LinedList"/>
    <dgm:cxn modelId="{C5BECD6A-CA95-4468-B6CD-9E8F7CF6B8A2}" type="presParOf" srcId="{60E38A7A-22F7-4F73-9CAD-2C6221E15865}" destId="{E14EB671-C230-42EF-A8B7-1EE94B186A45}" srcOrd="4" destOrd="0" presId="urn:microsoft.com/office/officeart/2008/layout/LinedList"/>
    <dgm:cxn modelId="{5C0575D4-5D57-41CC-A75D-4C01C72EA7DD}" type="presParOf" srcId="{60E38A7A-22F7-4F73-9CAD-2C6221E15865}" destId="{1AD6234E-96B5-4465-A460-7788CFF9033E}" srcOrd="5" destOrd="0" presId="urn:microsoft.com/office/officeart/2008/layout/LinedList"/>
    <dgm:cxn modelId="{850E4D36-2B4B-424E-8D12-F08676B44517}" type="presParOf" srcId="{1AD6234E-96B5-4465-A460-7788CFF9033E}" destId="{420D254E-23E3-4802-9197-A9957444EC98}" srcOrd="0" destOrd="0" presId="urn:microsoft.com/office/officeart/2008/layout/LinedList"/>
    <dgm:cxn modelId="{A86C7781-0F14-4951-A495-694599367BFC}" type="presParOf" srcId="{1AD6234E-96B5-4465-A460-7788CFF9033E}" destId="{2B5FDD35-B9DF-47D9-BF55-D13349F305F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5D500-DA48-4294-B253-155BDE0AEAE7}">
      <dsp:nvSpPr>
        <dsp:cNvPr id="0" name=""/>
        <dsp:cNvSpPr/>
      </dsp:nvSpPr>
      <dsp:spPr>
        <a:xfrm>
          <a:off x="0" y="1460"/>
          <a:ext cx="81345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C3E68-7963-492A-99C7-313316286318}">
      <dsp:nvSpPr>
        <dsp:cNvPr id="0" name=""/>
        <dsp:cNvSpPr/>
      </dsp:nvSpPr>
      <dsp:spPr>
        <a:xfrm>
          <a:off x="0" y="1460"/>
          <a:ext cx="8134555" cy="996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3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dirty="0">
              <a:solidFill>
                <a:schemeClr val="bg1"/>
              </a:solidFill>
            </a:rPr>
            <a:t>https://github.com/Alphareone/CapstoneProject.git</a:t>
          </a:r>
        </a:p>
      </dsp:txBody>
      <dsp:txXfrm>
        <a:off x="0" y="1460"/>
        <a:ext cx="8134555" cy="996362"/>
      </dsp:txXfrm>
    </dsp:sp>
    <dsp:sp modelId="{F55C0088-C0C2-4E08-AB70-A5F9D017AE16}">
      <dsp:nvSpPr>
        <dsp:cNvPr id="0" name=""/>
        <dsp:cNvSpPr/>
      </dsp:nvSpPr>
      <dsp:spPr>
        <a:xfrm>
          <a:off x="0" y="997823"/>
          <a:ext cx="81345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46B98-92D0-48F5-9F9B-D80B6794A4BC}">
      <dsp:nvSpPr>
        <dsp:cNvPr id="0" name=""/>
        <dsp:cNvSpPr/>
      </dsp:nvSpPr>
      <dsp:spPr>
        <a:xfrm>
          <a:off x="0" y="997823"/>
          <a:ext cx="8134555" cy="996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3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dirty="0">
              <a:solidFill>
                <a:schemeClr val="bg1"/>
              </a:solidFill>
            </a:rPr>
            <a:t>https://drive.google.com/drive/folders/1lfCZGKXPYub3t52xiG7z3Hq5lxKWfHx-?usp=drive_link</a:t>
          </a:r>
        </a:p>
      </dsp:txBody>
      <dsp:txXfrm>
        <a:off x="0" y="997823"/>
        <a:ext cx="8134555" cy="996362"/>
      </dsp:txXfrm>
    </dsp:sp>
    <dsp:sp modelId="{E14EB671-C230-42EF-A8B7-1EE94B186A45}">
      <dsp:nvSpPr>
        <dsp:cNvPr id="0" name=""/>
        <dsp:cNvSpPr/>
      </dsp:nvSpPr>
      <dsp:spPr>
        <a:xfrm>
          <a:off x="0" y="1994186"/>
          <a:ext cx="81345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D254E-23E3-4802-9197-A9957444EC98}">
      <dsp:nvSpPr>
        <dsp:cNvPr id="0" name=""/>
        <dsp:cNvSpPr/>
      </dsp:nvSpPr>
      <dsp:spPr>
        <a:xfrm>
          <a:off x="0" y="1994186"/>
          <a:ext cx="8134555" cy="996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3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dirty="0">
              <a:solidFill>
                <a:schemeClr val="bg1"/>
              </a:solidFill>
            </a:rPr>
            <a:t>https://drive.google.com/drive/folders/1Y6t3c6bWMwtTJ-1Wc7QTfp23osSk9mr7?usp=drive_link</a:t>
          </a:r>
        </a:p>
      </dsp:txBody>
      <dsp:txXfrm>
        <a:off x="0" y="1994186"/>
        <a:ext cx="8134555" cy="9963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09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11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19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9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36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471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69924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91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78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404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584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98655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339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69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556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15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53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4469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3383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081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924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73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213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709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312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235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924621"/>
            <a:ext cx="4940710" cy="889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sz="6300" b="1" i="0" u="none" dirty="0" err="1">
                <a:latin typeface="Poppins"/>
              </a:rPr>
              <a:t>ClearBid</a:t>
            </a:r>
            <a:r>
              <a:rPr sz="6300" b="1" i="0" u="none" dirty="0">
                <a:latin typeface="Poppins"/>
              </a:rPr>
              <a:t> NJ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9" y="3995142"/>
            <a:ext cx="9207911" cy="1405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sz="2800" b="0" i="0" u="none" dirty="0">
                <a:solidFill>
                  <a:srgbClr val="CBD5E1"/>
                </a:solidFill>
                <a:latin typeface="Lato"/>
              </a:rPr>
              <a:t>Sistema de </a:t>
            </a:r>
            <a:r>
              <a:rPr sz="2800" b="0" i="0" u="none" dirty="0" err="1">
                <a:solidFill>
                  <a:srgbClr val="CBD5E1"/>
                </a:solidFill>
                <a:latin typeface="Lato"/>
              </a:rPr>
              <a:t>Inteligencia</a:t>
            </a:r>
            <a:r>
              <a:rPr sz="2800" b="0" i="0" u="none" dirty="0">
                <a:solidFill>
                  <a:srgbClr val="CBD5E1"/>
                </a:solidFill>
                <a:latin typeface="Lato"/>
              </a:rPr>
              <a:t> Pre-Puja para Remates </a:t>
            </a:r>
            <a:r>
              <a:rPr sz="2800" b="0" i="0" u="none" dirty="0" err="1">
                <a:solidFill>
                  <a:srgbClr val="CBD5E1"/>
                </a:solidFill>
                <a:latin typeface="Lato"/>
              </a:rPr>
              <a:t>Inmobiliarios</a:t>
            </a:r>
            <a:r>
              <a:rPr lang="es-ES" sz="2800" b="0" i="0" u="none" dirty="0">
                <a:solidFill>
                  <a:srgbClr val="CBD5E1"/>
                </a:solidFill>
                <a:latin typeface="Lato"/>
              </a:rPr>
              <a:t> (SIPPRI)</a:t>
            </a:r>
            <a:r>
              <a:rPr dirty="0"/>
              <a:t>
</a:t>
            </a:r>
            <a:r>
              <a:rPr sz="2400" b="0" i="0" u="none" dirty="0">
                <a:solidFill>
                  <a:srgbClr val="00B0F0"/>
                </a:solidFill>
                <a:latin typeface="Lato"/>
              </a:rPr>
              <a:t> </a:t>
            </a:r>
            <a:r>
              <a:rPr sz="2000" b="0" i="0" u="none" dirty="0" err="1">
                <a:solidFill>
                  <a:srgbClr val="00B0F0"/>
                </a:solidFill>
                <a:latin typeface="Lato"/>
              </a:rPr>
              <a:t>Formalización</a:t>
            </a:r>
            <a:r>
              <a:rPr sz="2000" b="0" i="0" u="none" dirty="0">
                <a:solidFill>
                  <a:srgbClr val="00B0F0"/>
                </a:solidFill>
                <a:latin typeface="Lato"/>
              </a:rPr>
              <a:t> Fase 1</a:t>
            </a:r>
            <a:endParaRPr sz="2400" b="0" i="0" u="none" dirty="0">
              <a:solidFill>
                <a:srgbClr val="00B0F0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5838825"/>
            <a:ext cx="76200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94A3B8"/>
                </a:solidFill>
                <a:latin typeface="Poppins"/>
              </a:rPr>
              <a:t>EQUIPO: </a:t>
            </a:r>
            <a:r>
              <a:rPr lang="es-ES" sz="1350" b="0" i="0" u="none" dirty="0">
                <a:solidFill>
                  <a:srgbClr val="94A3B8"/>
                </a:solidFill>
                <a:latin typeface="Poppins"/>
              </a:rPr>
              <a:t>Alfredo </a:t>
            </a:r>
            <a:r>
              <a:rPr sz="1350" b="0" i="0" u="none" dirty="0">
                <a:solidFill>
                  <a:srgbClr val="94A3B8"/>
                </a:solidFill>
                <a:latin typeface="Poppins"/>
              </a:rPr>
              <a:t>C</a:t>
            </a:r>
            <a:r>
              <a:rPr lang="es-ES" sz="1350" b="0" i="0" u="none" dirty="0">
                <a:solidFill>
                  <a:srgbClr val="94A3B8"/>
                </a:solidFill>
                <a:latin typeface="Poppins"/>
              </a:rPr>
              <a:t>astro</a:t>
            </a:r>
            <a:r>
              <a:rPr sz="1350" b="0" i="0" u="none" dirty="0">
                <a:solidFill>
                  <a:srgbClr val="94A3B8"/>
                </a:solidFill>
                <a:latin typeface="Poppins"/>
              </a:rPr>
              <a:t> • </a:t>
            </a:r>
            <a:r>
              <a:rPr lang="es-ES" sz="1350" b="0" i="0" u="none" dirty="0">
                <a:solidFill>
                  <a:srgbClr val="94A3B8"/>
                </a:solidFill>
                <a:latin typeface="Poppins"/>
              </a:rPr>
              <a:t>Cristopher </a:t>
            </a:r>
            <a:r>
              <a:rPr sz="1350" b="0" i="0" u="none" dirty="0">
                <a:solidFill>
                  <a:srgbClr val="94A3B8"/>
                </a:solidFill>
                <a:latin typeface="Poppins"/>
              </a:rPr>
              <a:t>H</a:t>
            </a:r>
            <a:r>
              <a:rPr lang="es-ES" sz="1350" b="0" i="0" u="none" dirty="0">
                <a:solidFill>
                  <a:srgbClr val="94A3B8"/>
                </a:solidFill>
                <a:latin typeface="Poppins"/>
              </a:rPr>
              <a:t>Hernández</a:t>
            </a:r>
            <a:r>
              <a:rPr sz="1350" b="0" i="0" u="none" dirty="0">
                <a:solidFill>
                  <a:srgbClr val="94A3B8"/>
                </a:solidFill>
                <a:latin typeface="Poppins"/>
              </a:rPr>
              <a:t> • </a:t>
            </a:r>
            <a:r>
              <a:rPr lang="es-ES" sz="1350" b="0" i="0" u="none" dirty="0">
                <a:solidFill>
                  <a:srgbClr val="94A3B8"/>
                </a:solidFill>
                <a:latin typeface="Poppins"/>
              </a:rPr>
              <a:t>Felipe Calderón</a:t>
            </a:r>
            <a:r>
              <a:rPr sz="1350" b="0" i="0" u="none" dirty="0">
                <a:solidFill>
                  <a:srgbClr val="94A3B8"/>
                </a:solidFill>
                <a:latin typeface="Poppins"/>
              </a:rPr>
              <a:t> • </a:t>
            </a:r>
            <a:r>
              <a:rPr lang="es-ES" sz="1350" b="0" i="0" u="none" dirty="0">
                <a:solidFill>
                  <a:srgbClr val="94A3B8"/>
                </a:solidFill>
                <a:latin typeface="Poppins"/>
              </a:rPr>
              <a:t>Matias Tirado</a:t>
            </a:r>
            <a:endParaRPr sz="1350" b="0" i="0" u="none" dirty="0">
              <a:solidFill>
                <a:srgbClr val="94A3B8"/>
              </a:solidFill>
              <a:latin typeface="Poppin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DE94C12-A057-99F5-1EAC-BA682FAEC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873" y="890437"/>
            <a:ext cx="2876550" cy="866775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89F2D88-461F-1A00-7F57-9C4B55184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146" y="933673"/>
            <a:ext cx="2967708" cy="823539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64DC8B2B-1C08-9E79-07CF-0C6CA30F1343}"/>
              </a:ext>
            </a:extLst>
          </p:cNvPr>
          <p:cNvSpPr/>
          <p:nvPr/>
        </p:nvSpPr>
        <p:spPr>
          <a:xfrm>
            <a:off x="0" y="514336"/>
            <a:ext cx="12192000" cy="8357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717" y="2090588"/>
            <a:ext cx="500062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8250" y="1941611"/>
            <a:ext cx="4524375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Dónde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Mercado de subastas de propiedades en New Jersey, EE. UU.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3310979"/>
            <a:ext cx="4524375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Situación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Datos financieros, físicos y legales altamente dispersos y difíciles de verificar.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4680346"/>
            <a:ext cx="4524375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Consecuencia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Inversionistas operan a ciegas, asumiendo alto riesgo de pérdida por gravámenes ocultos.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55899"/>
            <a:ext cx="20002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325266"/>
            <a:ext cx="3048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694634"/>
            <a:ext cx="266700" cy="276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696581"/>
            <a:ext cx="1120140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 dirty="0" err="1">
                <a:solidFill>
                  <a:srgbClr val="0F172A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Problema</a:t>
            </a:r>
            <a:r>
              <a:rPr lang="es-ES" sz="3450" b="0" i="0" u="none" dirty="0">
                <a:solidFill>
                  <a:srgbClr val="0F172A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 y contextualización</a:t>
            </a:r>
            <a:endParaRPr sz="3450" b="0" i="0" u="none" dirty="0">
              <a:solidFill>
                <a:srgbClr val="0F172A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7EEA3F2-4FED-DB23-09D0-73E2D21F2D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108339"/>
            <a:ext cx="5182693" cy="348889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53A2180A-61FA-ADCB-75F1-9E215B428ACB}"/>
              </a:ext>
            </a:extLst>
          </p:cNvPr>
          <p:cNvSpPr/>
          <p:nvPr/>
        </p:nvSpPr>
        <p:spPr>
          <a:xfrm>
            <a:off x="0" y="507399"/>
            <a:ext cx="9574571" cy="8357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762000" y="666750"/>
            <a:ext cx="5300662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 dirty="0" err="1">
                <a:solidFill>
                  <a:srgbClr val="0F172A"/>
                </a:solidFill>
                <a:latin typeface="Poppins SemiBold"/>
              </a:rPr>
              <a:t>Solución</a:t>
            </a:r>
            <a:r>
              <a:rPr lang="es-ES" sz="3450" b="0" i="0" u="none" dirty="0">
                <a:solidFill>
                  <a:srgbClr val="0F172A"/>
                </a:solidFill>
                <a:latin typeface="Poppins SemiBold"/>
              </a:rPr>
              <a:t> propuesta</a:t>
            </a:r>
            <a:endParaRPr sz="3450" b="0" i="0" u="none" dirty="0">
              <a:solidFill>
                <a:srgbClr val="0F172A"/>
              </a:solidFill>
              <a:latin typeface="Poppi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827" y="1886639"/>
            <a:ext cx="53006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1E293B"/>
                </a:solidFill>
                <a:latin typeface="Poppins SemiBold"/>
              </a:rPr>
              <a:t>Plataforma </a:t>
            </a:r>
            <a:r>
              <a:rPr sz="2100" b="0" i="0" u="none" dirty="0" err="1">
                <a:solidFill>
                  <a:srgbClr val="1E293B"/>
                </a:solidFill>
                <a:latin typeface="Poppins SemiBold"/>
              </a:rPr>
              <a:t>Centralizada</a:t>
            </a:r>
            <a:endParaRPr sz="2100" b="0" i="0" u="none" dirty="0">
              <a:solidFill>
                <a:srgbClr val="1E293B"/>
              </a:solidFill>
              <a:latin typeface="Poppi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390" y="2270028"/>
            <a:ext cx="5048250" cy="62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Unificación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de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datos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mediante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una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aplicación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Web y API REST robusta.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42096"/>
            <a:ext cx="53006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 err="1">
                <a:solidFill>
                  <a:srgbClr val="1E293B"/>
                </a:solidFill>
                <a:latin typeface="Poppins SemiBold"/>
              </a:rPr>
              <a:t>Semáforo</a:t>
            </a:r>
            <a:r>
              <a:rPr sz="2100" b="0" i="0" u="none" dirty="0">
                <a:solidFill>
                  <a:srgbClr val="1E293B"/>
                </a:solidFill>
                <a:latin typeface="Poppins SemiBold"/>
              </a:rPr>
              <a:t> de Riesgo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390" y="3797515"/>
            <a:ext cx="5048250" cy="62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Evaluación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automática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(Financiera, Legal,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Física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)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procesada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por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un motor de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reglas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26868"/>
            <a:ext cx="53006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 err="1">
                <a:solidFill>
                  <a:srgbClr val="1E293B"/>
                </a:solidFill>
                <a:latin typeface="Poppins SemiBold"/>
              </a:rPr>
              <a:t>Aporte</a:t>
            </a:r>
            <a:r>
              <a:rPr sz="2100" b="0" i="0" u="none" dirty="0">
                <a:solidFill>
                  <a:srgbClr val="1E293B"/>
                </a:solidFill>
                <a:latin typeface="Poppins SemiBold"/>
              </a:rPr>
              <a:t> de 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1" y="5282287"/>
            <a:ext cx="5048250" cy="62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Decisiones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de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inversión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rápidas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y 100%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basadas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en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datos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fiables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 flipH="1">
            <a:off x="3691642" y="3543339"/>
            <a:ext cx="337740" cy="106521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 flipH="1">
            <a:off x="4120267" y="3543339"/>
            <a:ext cx="337740" cy="106521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 flipH="1">
            <a:off x="4548892" y="3543339"/>
            <a:ext cx="337740" cy="106521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2D5DF08-E317-E975-7461-FD4A77B3C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07400"/>
            <a:ext cx="5768499" cy="57466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E694A418-0197-DF32-0DDB-87819B1C60B2}"/>
              </a:ext>
            </a:extLst>
          </p:cNvPr>
          <p:cNvSpPr/>
          <p:nvPr/>
        </p:nvSpPr>
        <p:spPr>
          <a:xfrm>
            <a:off x="0" y="443028"/>
            <a:ext cx="12192000" cy="8357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91928"/>
            <a:ext cx="3365450" cy="38076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200" y="2091928"/>
            <a:ext cx="3365450" cy="38076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400" y="2091928"/>
            <a:ext cx="3365450" cy="38076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2482453"/>
            <a:ext cx="762000" cy="76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7275" y="3482578"/>
            <a:ext cx="22402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Framework Ágil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4025503"/>
            <a:ext cx="27749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Utilización de SCRUM para estructurar el desarrollo iterativo abarcando diseño, código y testing.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8475" y="2482453"/>
            <a:ext cx="762000" cy="76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08475" y="3482578"/>
            <a:ext cx="28803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1E293B"/>
                </a:solidFill>
                <a:latin typeface="Poppins SemiBold"/>
              </a:rPr>
              <a:t>Sprints </a:t>
            </a:r>
            <a:r>
              <a:rPr lang="es-ES" sz="2100" b="0" i="0" u="none" dirty="0">
                <a:solidFill>
                  <a:srgbClr val="1E293B"/>
                </a:solidFill>
                <a:latin typeface="Poppins SemiBold"/>
              </a:rPr>
              <a:t>Semanales</a:t>
            </a:r>
            <a:endParaRPr sz="2100" b="0" i="0" u="none" dirty="0">
              <a:solidFill>
                <a:srgbClr val="1E293B"/>
              </a:solidFill>
              <a:latin typeface="Poppi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08475" y="4025503"/>
            <a:ext cx="27749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Ciclos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de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trabajo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lang="es-ES" sz="1650" dirty="0">
                <a:solidFill>
                  <a:srgbClr val="475569"/>
                </a:solidFill>
                <a:latin typeface="Lato"/>
              </a:rPr>
              <a:t>por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semanas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para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garantizar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ritmo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,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adaptación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y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revisión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Lato"/>
              </a:rPr>
              <a:t>constante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675" y="2482453"/>
            <a:ext cx="762000" cy="76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59675" y="3482578"/>
            <a:ext cx="252031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Entrega Continua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9675" y="4025503"/>
            <a:ext cx="27749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Hitos claros: Arquitectura, Backend Base, Interfaz Web funcional y aseguramiento de calidad (QA).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" y="2663428"/>
            <a:ext cx="400050" cy="4000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3262" y="2663428"/>
            <a:ext cx="352425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8263" y="2663428"/>
            <a:ext cx="504825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666750"/>
            <a:ext cx="112014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0F172A"/>
                </a:solidFill>
                <a:latin typeface="Poppins SemiBold"/>
              </a:rPr>
              <a:t>Metodología de Trabajo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D364E4C1-4214-5A0D-9EA4-6EB7DB4C6B71}"/>
              </a:ext>
            </a:extLst>
          </p:cNvPr>
          <p:cNvSpPr/>
          <p:nvPr/>
        </p:nvSpPr>
        <p:spPr>
          <a:xfrm>
            <a:off x="1" y="488233"/>
            <a:ext cx="12192000" cy="8357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30983"/>
            <a:ext cx="2452687" cy="27295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437" y="2630983"/>
            <a:ext cx="2452687" cy="27295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630983"/>
            <a:ext cx="2452687" cy="27295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312" y="2630983"/>
            <a:ext cx="2452687" cy="27295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926258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025" y="3688258"/>
            <a:ext cx="169021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Alfredo Castro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45458"/>
            <a:ext cx="2052637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Backend Lead &amp; Security</a:t>
            </a:r>
            <a:r>
              <a:t>
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FastAPI, Auth 2FA, JWT rotativo.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462" y="2926258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00462" y="3688258"/>
            <a:ext cx="156019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C. Hernandez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462" y="4145458"/>
            <a:ext cx="2052637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Frontend Lead</a:t>
            </a:r>
            <a:r>
              <a:t>
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React 18, TypeScript, Tailwind, Maps.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2926258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38900" y="3688258"/>
            <a:ext cx="18302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Felipe Calderon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4145458"/>
            <a:ext cx="2052637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Data Engine Lead</a:t>
            </a:r>
            <a:r>
              <a:t>
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PostgreSQL, SQLAlchemy, Motor de Reglas.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7337" y="2926258"/>
            <a:ext cx="571500" cy="571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77337" y="3688258"/>
            <a:ext cx="1600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Matias Tirado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7337" y="4145458"/>
            <a:ext cx="2052637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Lato"/>
              </a:rPr>
              <a:t>DevOps &amp; QA</a:t>
            </a:r>
            <a:r>
              <a:t>
</a:t>
            </a:r>
            <a:r>
              <a:rPr sz="1275" b="0" i="0" u="none">
                <a:solidFill>
                  <a:srgbClr val="475569"/>
                </a:solidFill>
                <a:latin typeface="Lato"/>
              </a:rPr>
              <a:t> Docker, Pytest, BackgroundTasks.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425" y="3078658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3812" y="3078658"/>
            <a:ext cx="3048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5587" y="3078658"/>
            <a:ext cx="238125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6400" y="3078658"/>
            <a:ext cx="333375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2000" y="666750"/>
            <a:ext cx="112014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0" i="0" u="none">
                <a:solidFill>
                  <a:srgbClr val="0F172A"/>
                </a:solidFill>
                <a:latin typeface="Poppins SemiBold"/>
              </a:rPr>
              <a:t>Equipo y Roles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6AA7969C-0E46-3CDA-5932-48058EC116BB}"/>
              </a:ext>
            </a:extLst>
          </p:cNvPr>
          <p:cNvSpPr/>
          <p:nvPr/>
        </p:nvSpPr>
        <p:spPr>
          <a:xfrm>
            <a:off x="182270" y="3170174"/>
            <a:ext cx="3617570" cy="82194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TextBox 9"/>
          <p:cNvSpPr txBox="1"/>
          <p:nvPr/>
        </p:nvSpPr>
        <p:spPr>
          <a:xfrm>
            <a:off x="301752" y="952500"/>
            <a:ext cx="3332784" cy="1581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i="0" u="none" dirty="0" err="1">
                <a:latin typeface="+mj-lt"/>
                <a:ea typeface="+mj-ea"/>
                <a:cs typeface="+mj-cs"/>
              </a:rPr>
              <a:t>Factibilidad</a:t>
            </a:r>
            <a:r>
              <a:rPr lang="en-US" sz="2800" i="0" u="none" dirty="0">
                <a:latin typeface="+mj-lt"/>
                <a:ea typeface="+mj-ea"/>
                <a:cs typeface="+mj-cs"/>
              </a:rPr>
              <a:t> del Proyecto</a:t>
            </a:r>
          </a:p>
        </p:txBody>
      </p:sp>
      <p:pic>
        <p:nvPicPr>
          <p:cNvPr id="12" name="Picture 11" descr="Dispositivo móvil con aplicaciones">
            <a:extLst>
              <a:ext uri="{FF2B5EF4-FFF2-40B4-BE49-F238E27FC236}">
                <a16:creationId xmlns:a16="http://schemas.microsoft.com/office/drawing/2014/main" id="{B38BA913-B211-8148-32AC-CE92E986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62"/>
          <a:stretch>
            <a:fillRect/>
          </a:stretch>
        </p:blipFill>
        <p:spPr>
          <a:xfrm>
            <a:off x="4152900" y="10"/>
            <a:ext cx="8039100" cy="6857990"/>
          </a:xfrm>
          <a:prstGeom prst="rect">
            <a:avLst/>
          </a:prstGeom>
          <a:noFill/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5E2D18B9-3602-8C07-2F0F-BC4EBAB85AEE}"/>
              </a:ext>
            </a:extLst>
          </p:cNvPr>
          <p:cNvSpPr/>
          <p:nvPr/>
        </p:nvSpPr>
        <p:spPr>
          <a:xfrm>
            <a:off x="182270" y="4216908"/>
            <a:ext cx="3617570" cy="82194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280C80C-ECEA-4352-FDFA-B180CE385A4C}"/>
              </a:ext>
            </a:extLst>
          </p:cNvPr>
          <p:cNvSpPr/>
          <p:nvPr/>
        </p:nvSpPr>
        <p:spPr>
          <a:xfrm>
            <a:off x="182270" y="5263642"/>
            <a:ext cx="3617570" cy="82194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TextBox 4"/>
          <p:cNvSpPr txBox="1"/>
          <p:nvPr/>
        </p:nvSpPr>
        <p:spPr>
          <a:xfrm>
            <a:off x="217932" y="3322320"/>
            <a:ext cx="3581908" cy="28145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400" b="1" dirty="0"/>
              <a:t>Tiempo de </a:t>
            </a:r>
            <a:r>
              <a:rPr lang="en-US" sz="1400" b="1" dirty="0" err="1"/>
              <a:t>Ejecución</a:t>
            </a:r>
            <a:r>
              <a:rPr lang="en-US" sz="1400" dirty="0"/>
              <a:t> Desarrollo </a:t>
            </a:r>
            <a:r>
              <a:rPr lang="en-US" sz="1400" dirty="0" err="1"/>
              <a:t>planificado</a:t>
            </a:r>
            <a:r>
              <a:rPr lang="en-US" sz="1400" dirty="0"/>
              <a:t> para ~3 meses (</a:t>
            </a:r>
            <a:r>
              <a:rPr lang="en-US" sz="1400" dirty="0" err="1"/>
              <a:t>semestre</a:t>
            </a:r>
            <a:r>
              <a:rPr lang="en-US" sz="1400" dirty="0"/>
              <a:t> </a:t>
            </a:r>
            <a:r>
              <a:rPr lang="en-US" sz="1400" dirty="0" err="1"/>
              <a:t>académico</a:t>
            </a:r>
            <a:r>
              <a:rPr lang="en-US" sz="1400" dirty="0"/>
              <a:t>).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400" b="1" dirty="0" err="1"/>
              <a:t>Alcance</a:t>
            </a:r>
            <a:r>
              <a:rPr lang="en-US" sz="1400" b="1" dirty="0"/>
              <a:t> </a:t>
            </a:r>
            <a:r>
              <a:rPr lang="en-US" sz="1400" b="1" dirty="0" err="1"/>
              <a:t>Acotado</a:t>
            </a:r>
            <a:r>
              <a:rPr lang="en-US" sz="1400" dirty="0"/>
              <a:t> Foco </a:t>
            </a:r>
            <a:r>
              <a:rPr lang="en-US" sz="1400" dirty="0" err="1"/>
              <a:t>estricto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Web y API. </a:t>
            </a:r>
            <a:r>
              <a:rPr lang="en-US" sz="1400" dirty="0" err="1"/>
              <a:t>Aplicación</a:t>
            </a:r>
            <a:r>
              <a:rPr lang="en-US" sz="1400" dirty="0"/>
              <a:t> </a:t>
            </a:r>
            <a:r>
              <a:rPr lang="en-US" sz="1400" dirty="0" err="1"/>
              <a:t>móvil</a:t>
            </a:r>
            <a:r>
              <a:rPr lang="en-US" sz="1400" dirty="0"/>
              <a:t> </a:t>
            </a:r>
            <a:r>
              <a:rPr lang="en-US" sz="1400" dirty="0" err="1"/>
              <a:t>excluida</a:t>
            </a:r>
            <a:r>
              <a:rPr lang="en-US" sz="1400" dirty="0"/>
              <a:t> de </a:t>
            </a:r>
            <a:r>
              <a:rPr lang="en-US" sz="1400" dirty="0" err="1"/>
              <a:t>esta</a:t>
            </a:r>
            <a:r>
              <a:rPr lang="en-US" sz="1400" dirty="0"/>
              <a:t> </a:t>
            </a:r>
            <a:r>
              <a:rPr lang="en-US" sz="1400" dirty="0" err="1"/>
              <a:t>fase</a:t>
            </a:r>
            <a:r>
              <a:rPr lang="en-US" sz="1400" dirty="0"/>
              <a:t>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400" b="1" dirty="0" err="1"/>
              <a:t>Infraestructura</a:t>
            </a:r>
            <a:r>
              <a:rPr lang="en-US" sz="1400" b="1" dirty="0"/>
              <a:t> </a:t>
            </a:r>
            <a:r>
              <a:rPr lang="en-US" sz="1400" b="1" dirty="0" err="1"/>
              <a:t>Ágil</a:t>
            </a:r>
            <a:r>
              <a:rPr lang="en-US" sz="1400" dirty="0"/>
              <a:t> </a:t>
            </a:r>
            <a:r>
              <a:rPr lang="en-US" sz="1400" dirty="0" err="1"/>
              <a:t>Entornos</a:t>
            </a:r>
            <a:r>
              <a:rPr lang="en-US" sz="1400" dirty="0"/>
              <a:t> de </a:t>
            </a:r>
            <a:r>
              <a:rPr lang="en-US" sz="1400" dirty="0" err="1"/>
              <a:t>trabajo</a:t>
            </a:r>
            <a:r>
              <a:rPr lang="en-US" sz="1400" dirty="0"/>
              <a:t> </a:t>
            </a:r>
            <a:r>
              <a:rPr lang="en-US" sz="1400" dirty="0" err="1"/>
              <a:t>contenedorizados</a:t>
            </a:r>
            <a:r>
              <a:rPr lang="en-US" sz="1400" dirty="0"/>
              <a:t> con Docker para </a:t>
            </a:r>
            <a:r>
              <a:rPr lang="en-US" sz="1400" dirty="0" err="1"/>
              <a:t>despliegue</a:t>
            </a:r>
            <a:r>
              <a:rPr lang="en-US" sz="1400" dirty="0"/>
              <a:t> y </a:t>
            </a:r>
            <a:r>
              <a:rPr lang="en-US" sz="1400" dirty="0" err="1"/>
              <a:t>pruebas</a:t>
            </a:r>
            <a:r>
              <a:rPr lang="en-US" sz="1400" dirty="0"/>
              <a:t> </a:t>
            </a:r>
            <a:r>
              <a:rPr lang="en-US" sz="1400" dirty="0" err="1"/>
              <a:t>eficientes</a:t>
            </a:r>
            <a:r>
              <a:rPr lang="en-US" sz="14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E7BFF4E0-5734-5A41-0BD8-D83075ED9FE1}"/>
              </a:ext>
            </a:extLst>
          </p:cNvPr>
          <p:cNvSpPr/>
          <p:nvPr/>
        </p:nvSpPr>
        <p:spPr>
          <a:xfrm>
            <a:off x="1376515" y="4280665"/>
            <a:ext cx="9574571" cy="8357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96ED890-F60E-B6ED-59A7-BE93DD945EA2}"/>
              </a:ext>
            </a:extLst>
          </p:cNvPr>
          <p:cNvSpPr/>
          <p:nvPr/>
        </p:nvSpPr>
        <p:spPr>
          <a:xfrm>
            <a:off x="1376515" y="3280695"/>
            <a:ext cx="9574571" cy="8357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C18C83C-B573-59BE-CDA7-1FFB226D5CB1}"/>
              </a:ext>
            </a:extLst>
          </p:cNvPr>
          <p:cNvSpPr/>
          <p:nvPr/>
        </p:nvSpPr>
        <p:spPr>
          <a:xfrm>
            <a:off x="1376516" y="2280725"/>
            <a:ext cx="9574571" cy="8357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TextBox 22"/>
          <p:cNvSpPr txBox="1"/>
          <p:nvPr/>
        </p:nvSpPr>
        <p:spPr>
          <a:xfrm>
            <a:off x="1932038" y="1303820"/>
            <a:ext cx="1120140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450" b="0" i="0" u="none" dirty="0">
                <a:solidFill>
                  <a:srgbClr val="0F172A"/>
                </a:solidFill>
                <a:latin typeface="Poppins SemiBold"/>
              </a:rPr>
              <a:t>Enlaces de repositorios y carpetas</a:t>
            </a:r>
            <a:endParaRPr sz="3450" b="0" i="0" u="none" dirty="0">
              <a:solidFill>
                <a:srgbClr val="0F172A"/>
              </a:solidFill>
              <a:latin typeface="Poppins SemiBold"/>
            </a:endParaRPr>
          </a:p>
        </p:txBody>
      </p:sp>
      <p:graphicFrame>
        <p:nvGraphicFramePr>
          <p:cNvPr id="31" name="Diagrama 30">
            <a:extLst>
              <a:ext uri="{FF2B5EF4-FFF2-40B4-BE49-F238E27FC236}">
                <a16:creationId xmlns:a16="http://schemas.microsoft.com/office/drawing/2014/main" id="{BFABE4E3-643F-5242-E1B6-BE1FB0158B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3500322"/>
              </p:ext>
            </p:extLst>
          </p:nvPr>
        </p:nvGraphicFramePr>
        <p:xfrm>
          <a:off x="2816532" y="2202561"/>
          <a:ext cx="8134555" cy="2992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C20EF9E6-834A-378F-7865-175A33B22120}"/>
              </a:ext>
            </a:extLst>
          </p:cNvPr>
          <p:cNvSpPr/>
          <p:nvPr/>
        </p:nvSpPr>
        <p:spPr>
          <a:xfrm>
            <a:off x="1580330" y="2380121"/>
            <a:ext cx="1032387" cy="657225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0BC6C43C-E989-8EAA-B21F-95A22E416EB8}"/>
              </a:ext>
            </a:extLst>
          </p:cNvPr>
          <p:cNvSpPr/>
          <p:nvPr/>
        </p:nvSpPr>
        <p:spPr>
          <a:xfrm>
            <a:off x="1580330" y="3367189"/>
            <a:ext cx="1032387" cy="657225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48AEFC04-6F86-1883-EA0D-1822AD1BB50C}"/>
              </a:ext>
            </a:extLst>
          </p:cNvPr>
          <p:cNvSpPr/>
          <p:nvPr/>
        </p:nvSpPr>
        <p:spPr>
          <a:xfrm>
            <a:off x="1580330" y="4369923"/>
            <a:ext cx="1032387" cy="657225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9" name="Imagen 38" descr="Google Drive • cristic">
            <a:extLst>
              <a:ext uri="{FF2B5EF4-FFF2-40B4-BE49-F238E27FC236}">
                <a16:creationId xmlns:a16="http://schemas.microsoft.com/office/drawing/2014/main" id="{42EEEC02-F4C9-0948-2BB9-E9582E83C8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7911" y="3367189"/>
            <a:ext cx="657225" cy="657225"/>
          </a:xfrm>
          <a:prstGeom prst="rect">
            <a:avLst/>
          </a:prstGeom>
        </p:spPr>
      </p:pic>
      <p:pic>
        <p:nvPicPr>
          <p:cNvPr id="40" name="Imagen 39" descr="Google Drive • cristic">
            <a:extLst>
              <a:ext uri="{FF2B5EF4-FFF2-40B4-BE49-F238E27FC236}">
                <a16:creationId xmlns:a16="http://schemas.microsoft.com/office/drawing/2014/main" id="{74DEF052-92C4-087C-F4DD-014667221B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7911" y="4369922"/>
            <a:ext cx="657225" cy="657225"/>
          </a:xfrm>
          <a:prstGeom prst="rect">
            <a:avLst/>
          </a:prstGeom>
        </p:spPr>
      </p:pic>
      <p:pic>
        <p:nvPicPr>
          <p:cNvPr id="41" name="Imagen 40" descr="GitHub - Wikipedia, la enciclopedia libre">
            <a:extLst>
              <a:ext uri="{FF2B5EF4-FFF2-40B4-BE49-F238E27FC236}">
                <a16:creationId xmlns:a16="http://schemas.microsoft.com/office/drawing/2014/main" id="{F589F0D8-6F35-7AF5-3B6A-FF4F9A8A48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7041" y="2457622"/>
            <a:ext cx="518963" cy="5189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gradado oscuro">
  <a:themeElements>
    <a:clrScheme name="Degradado oscuro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72</TotalTime>
  <Words>347</Words>
  <Application>Microsoft Office PowerPoint</Application>
  <PresentationFormat>Panorámica</PresentationFormat>
  <Paragraphs>40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Aptos</vt:lpstr>
      <vt:lpstr>Arial</vt:lpstr>
      <vt:lpstr>Arial Nova Light</vt:lpstr>
      <vt:lpstr>Lato</vt:lpstr>
      <vt:lpstr>Poppins</vt:lpstr>
      <vt:lpstr>Poppins SemiBold</vt:lpstr>
      <vt:lpstr>Posterama</vt:lpstr>
      <vt:lpstr>Degradado oscuro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ALFREDO BENJAMIN CASTRO ALARCON</cp:lastModifiedBy>
  <cp:revision>4</cp:revision>
  <dcterms:created xsi:type="dcterms:W3CDTF">2013-01-27T09:14:16Z</dcterms:created>
  <dcterms:modified xsi:type="dcterms:W3CDTF">2026-09-10T02:09:12Z</dcterms:modified>
  <cp:category/>
</cp:coreProperties>
</file>